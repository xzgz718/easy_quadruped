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5A"/>
                </a:solidFill>
                <a:latin typeface="Consolas"/>
              </a:defRPr>
            </a:pPr>
            <a:r>
              <a:t>第 1 讲：项目全景、入口与控制主循环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202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E6879"/>
                </a:solidFill>
                <a:latin typeface="Consolas"/>
              </a:defRPr>
            </a:pPr>
            <a:r>
              <a:t>先把仓库地图、控制主链和三类核心数据对象讲清楚。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3108960" cy="59436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12724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onsolas"/>
              </a:defRPr>
            </a:pPr>
            <a:r>
              <a:t>项目导向 · 代码导向 · 可录制初稿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097280"/>
            <a:ext cx="3154680" cy="38404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1389888"/>
            <a:ext cx="2743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232934"/>
                </a:solidFill>
                <a:latin typeface="Consolas"/>
              </a:defRPr>
            </a:pPr>
            <a:r>
              <a:t>适合：源码讲解型 B 站课程</a:t>
            </a:r>
          </a:p>
          <a:p>
            <a:pPr>
              <a:spcAft>
                <a:spcPts val="1000"/>
              </a:spcAft>
              <a:defRPr sz="1400" b="0">
                <a:solidFill>
                  <a:srgbClr val="232934"/>
                </a:solidFill>
                <a:latin typeface="Consolas"/>
              </a:defRPr>
            </a:pPr>
            <a:r>
              <a:t>素材来源：当前仓库 `src/`、`pupper/`、`sim/`</a:t>
            </a:r>
          </a:p>
          <a:p>
            <a:pPr>
              <a:spcAft>
                <a:spcPts val="1000"/>
              </a:spcAft>
              <a:defRPr sz="1400" b="0">
                <a:solidFill>
                  <a:srgbClr val="232934"/>
                </a:solidFill>
                <a:latin typeface="Consolas"/>
              </a:defRPr>
            </a:pPr>
            <a:r>
              <a:t>讲法：架构图 -&gt; 源码 -&gt; 演示 -&gt; 作业</a:t>
            </a:r>
          </a:p>
          <a:p>
            <a:pPr>
              <a:spcAft>
                <a:spcPts val="1000"/>
              </a:spcAft>
              <a:defRPr sz="1400" b="0">
                <a:solidFill>
                  <a:srgbClr val="232934"/>
                </a:solidFill>
                <a:latin typeface="Consolas"/>
              </a:defRPr>
            </a:pPr>
            <a:r>
              <a:t>用途：正式课件结构稿，可继续美化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lecture01_project_overview · StanfordQuadruped B 站课程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本讲目标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1024128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判断项目控制范式：gait + 足端规划 + IK，而不是 MPC / WBC。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认清仓库四层结构：入口层、控制层、模型硬件层、仿真桥接层。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建立 `Command / State / Configuration` 三对象心智模型。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把 `run_robot.py` 主循环讲成一条可复述的运行链。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lecture01_project_overview · 第 1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仓库四层结构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402336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934"/>
                </a:solidFill>
                <a:latin typeface="Consolas"/>
              </a:defRPr>
            </a:pPr>
            <a:r>
              <a:t>入口层：`run_robot.py`、`sim/run_*`。</a:t>
            </a:r>
          </a:p>
          <a:p>
            <a:pPr>
              <a:spcAft>
                <a:spcPts val="1000"/>
              </a:spcAft>
              <a:defRPr sz="1800" b="0">
                <a:solidFill>
                  <a:srgbClr val="232934"/>
                </a:solidFill>
                <a:latin typeface="Consolas"/>
              </a:defRPr>
            </a:pPr>
            <a:r>
              <a:t>控制层：`src/Controller.py`、`Gaits.py`、`StanceController.py`、`SwingLegController.py`。</a:t>
            </a:r>
          </a:p>
          <a:p>
            <a:pPr>
              <a:spcAft>
                <a:spcPts val="1000"/>
              </a:spcAft>
              <a:defRPr sz="1800" b="0">
                <a:solidFill>
                  <a:srgbClr val="232934"/>
                </a:solidFill>
                <a:latin typeface="Consolas"/>
              </a:defRPr>
            </a:pPr>
            <a:r>
              <a:t>模型与硬件层：`pupper/Config.py`、`Kinematics.py`、`HardwareInterface.py`。</a:t>
            </a:r>
          </a:p>
          <a:p>
            <a:pPr>
              <a:spcAft>
                <a:spcPts val="1000"/>
              </a:spcAft>
              <a:defRPr sz="1800" b="0">
                <a:solidFill>
                  <a:srgbClr val="232934"/>
                </a:solidFill>
                <a:latin typeface="Consolas"/>
              </a:defRPr>
            </a:pPr>
            <a:r>
              <a:t>仿真桥接层：MuJoCo 构建、观测、执行器与任务调度。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783080"/>
            <a:ext cx="6492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oject_structur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74520"/>
            <a:ext cx="6309360" cy="415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11496" y="6007608"/>
            <a:ext cx="623620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E6879"/>
                </a:solidFill>
                <a:latin typeface="Consolas"/>
              </a:defRPr>
            </a:pPr>
            <a:r>
              <a:t>项目结构图：最适合第 1 讲用来建立整体地图。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lecture01_project_overview · 第 2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两个入口分别承担什么角色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28800"/>
            <a:ext cx="507492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89320" y="1828800"/>
            <a:ext cx="544068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B6CB0"/>
                </a:solidFill>
                <a:latin typeface="Consolas"/>
              </a:defRPr>
            </a:pPr>
            <a:r>
              <a:t>`run_robot.py`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95728"/>
            <a:ext cx="4480560" cy="3566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原始实机入口。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串联手柄、IMU、控制器和舵机后端。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强调真实运行链和部署依赖。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205740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B6CB0"/>
                </a:solidFill>
                <a:latin typeface="Consolas"/>
              </a:defRPr>
            </a:pPr>
            <a:r>
              <a:t>`sim/run_floating_base.py`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3056" y="2395728"/>
            <a:ext cx="4663440" cy="3566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当前最佳教学入口。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共享同一控制器核心，但更容易观察状态。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适合讲闭环、调参与回归实验。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lecture01_project_overview · 第 3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三类核心数据对象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1024128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`Command`：这一拍想让机器人做什么。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`State`：控制器当前维护的足端、关节、姿态和观测状态。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`Configuration`：步态、几何、输入限制和仿真参数集合。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建议观众牢记：输入、状态、参数三者分离是工程可维护性的基础。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lecture01_project_overview · 第 4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一拍控制循环伪代码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393192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934"/>
                </a:solidFill>
                <a:latin typeface="Consolas"/>
              </a:defRPr>
            </a:pPr>
            <a:r>
              <a:t>主入口负责 orchestration，不负责复杂控制算法。</a:t>
            </a:r>
          </a:p>
          <a:p>
            <a:pPr>
              <a:spcAft>
                <a:spcPts val="1000"/>
              </a:spcAft>
              <a:defRPr sz="1700" b="0">
                <a:solidFill>
                  <a:srgbClr val="232934"/>
                </a:solidFill>
                <a:latin typeface="Consolas"/>
              </a:defRPr>
            </a:pPr>
            <a:r>
              <a:t>真正的运动逻辑集中在 `Controller.run()`。</a:t>
            </a:r>
          </a:p>
          <a:p>
            <a:pPr>
              <a:spcAft>
                <a:spcPts val="1000"/>
              </a:spcAft>
              <a:defRPr sz="1700" b="0">
                <a:solidFill>
                  <a:srgbClr val="232934"/>
                </a:solidFill>
                <a:latin typeface="Consolas"/>
              </a:defRPr>
            </a:pPr>
            <a:r>
              <a:t>输出统一收敛到 `state.joint_angles`。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783080"/>
            <a:ext cx="649224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892808"/>
            <a:ext cx="6163056" cy="43251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32934"/>
                </a:solidFill>
                <a:latin typeface="Consolas"/>
              </a:defRPr>
            </a:pPr>
            <a:r>
              <a:t>config = Configuration()</a:t>
            </a:r>
            <a:br/>
            <a:r>
              <a:t>hardware = HardwareInterface()</a:t>
            </a:r>
            <a:br/>
            <a:r>
              <a:t>controller = Controller(config, four_legs_inverse_kinematics)</a:t>
            </a:r>
            <a:br/>
            <a:r>
              <a:t>state = State()</a:t>
            </a:r>
            <a:br/>
            <a:r>
              <a:t>joystick = JoystickInterface(config)</a:t>
            </a:r>
            <a:br/>
            <a:br/>
            <a:r>
              <a:t>while active:</a:t>
            </a:r>
            <a:br/>
            <a:r>
              <a:t>    command = joystick.get_command(state)</a:t>
            </a:r>
            <a:br/>
            <a:r>
              <a:t>    state.quat_orientation = imu.read_orientation() or [1, 0, 0, 0]</a:t>
            </a:r>
            <a:br/>
            <a:r>
              <a:t>    controller.run(state, command)</a:t>
            </a:r>
            <a:br/>
            <a:r>
              <a:t>    hardware.set_actuator_postions(state.joint_angles)</a:t>
            </a:r>
            <a:br/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lecture01_project_overview · 第 5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为什么先从 MuJoCo 入口学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402336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934"/>
                </a:solidFill>
                <a:latin typeface="Consolas"/>
              </a:defRPr>
            </a:pPr>
            <a:r>
              <a:t>不依赖真实硬件，课程录制更稳定。</a:t>
            </a:r>
          </a:p>
          <a:p>
            <a:pPr>
              <a:spcAft>
                <a:spcPts val="1000"/>
              </a:spcAft>
              <a:defRPr sz="1800" b="0">
                <a:solidFill>
                  <a:srgbClr val="232934"/>
                </a:solidFill>
                <a:latin typeface="Consolas"/>
              </a:defRPr>
            </a:pPr>
            <a:r>
              <a:t>能看到机身与地面的真实互动。</a:t>
            </a:r>
          </a:p>
          <a:p>
            <a:pPr>
              <a:spcAft>
                <a:spcPts val="1000"/>
              </a:spcAft>
              <a:defRPr sz="1800" b="0">
                <a:solidFill>
                  <a:srgbClr val="232934"/>
                </a:solidFill>
                <a:latin typeface="Consolas"/>
              </a:defRPr>
            </a:pPr>
            <a:r>
              <a:t>能直接读取姿态、速度、触地和关节状态。</a:t>
            </a:r>
          </a:p>
          <a:p>
            <a:pPr>
              <a:spcAft>
                <a:spcPts val="1000"/>
              </a:spcAft>
              <a:defRPr sz="1800" b="0">
                <a:solidFill>
                  <a:srgbClr val="232934"/>
                </a:solidFill>
                <a:latin typeface="Consolas"/>
              </a:defRPr>
            </a:pPr>
            <a:r>
              <a:t>更适合讲“共享控制核心 + 可替换后端”。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783080"/>
            <a:ext cx="6492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ntrypoints_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74520"/>
            <a:ext cx="6309360" cy="415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11496" y="6007608"/>
            <a:ext cx="623620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E6879"/>
                </a:solidFill>
                <a:latin typeface="Consolas"/>
              </a:defRPr>
            </a:pPr>
            <a:r>
              <a:t>推荐学习路线：先仿真，后实机。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lecture01_project_overview · 第 6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建议现场演示命令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393192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934"/>
                </a:solidFill>
                <a:latin typeface="Consolas"/>
              </a:defRPr>
            </a:pPr>
            <a:r>
              <a:t>第 1 讲演示目标不是调参，而是让观众看到入口与输出。</a:t>
            </a:r>
          </a:p>
          <a:p>
            <a:pPr>
              <a:spcAft>
                <a:spcPts val="1000"/>
              </a:spcAft>
              <a:defRPr sz="1700" b="0">
                <a:solidFill>
                  <a:srgbClr val="232934"/>
                </a:solidFill>
                <a:latin typeface="Consolas"/>
              </a:defRPr>
            </a:pPr>
            <a:r>
              <a:t>先让观众知道脚会动、状态会变、代码主链在哪。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783080"/>
            <a:ext cx="649224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892808"/>
            <a:ext cx="6163056" cy="43251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32934"/>
                </a:solidFill>
                <a:latin typeface="Consolas"/>
              </a:defRPr>
            </a:pPr>
            <a:r>
              <a:t>python sim/run_fixed_base.py --mode rest --duration 10</a:t>
            </a:r>
            <a:br/>
            <a:r>
              <a:t>python sim/run_fixed_base.py --mode trot --duration 10</a:t>
            </a:r>
            <a:br/>
            <a:r>
              <a:t>python sim/run_floating_base.py --mode rest --duration 10</a:t>
            </a:r>
            <a:br/>
            <a:br/>
            <a:r>
              <a:t># 环境缺依赖时可先安装</a:t>
            </a:r>
            <a:br/>
            <a:r>
              <a:t>pip install numpy transforms3d mujoco</a:t>
            </a:r>
            <a:br/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lecture01_project_overview · 第 7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本讲结尾要让观众带走什么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1024128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这是一个适合教学的工程型四足控制器。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先看入口和数据对象，再看控制器。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仿真入口是理解整套仓库的最快路径。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下一讲开始进入 `Controller.run()` 这个控制中枢。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lecture01_project_overview · 第 8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