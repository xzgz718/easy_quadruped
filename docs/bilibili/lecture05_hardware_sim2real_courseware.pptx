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5A"/>
                </a:solidFill>
                <a:latin typeface="Consolas"/>
              </a:defRPr>
            </a:pPr>
            <a:r>
              <a:t>第 5 讲：实机接口、Sim2Real 与二次开发路线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202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E6879"/>
                </a:solidFill>
                <a:latin typeface="Consolas"/>
              </a:defRPr>
            </a:pPr>
            <a:r>
              <a:t>把实机链路、仿真到实机的边界和后续扩展路线讲清楚。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3108960" cy="594360"/>
          </a:xfrm>
          <a:prstGeom prst="round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12724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onsolas"/>
              </a:defRPr>
            </a:pPr>
            <a:r>
              <a:t>项目导向 · 代码导向 · 可录制初稿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097280"/>
            <a:ext cx="3154680" cy="3840480"/>
          </a:xfrm>
          <a:prstGeom prst="roundRect">
            <a:avLst/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1389888"/>
            <a:ext cx="2743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232934"/>
                </a:solidFill>
                <a:latin typeface="Consolas"/>
              </a:defRPr>
            </a:pPr>
            <a:r>
              <a:t>适合：源码讲解型 B 站课程</a:t>
            </a:r>
          </a:p>
          <a:p>
            <a:pPr>
              <a:spcAft>
                <a:spcPts val="1000"/>
              </a:spcAft>
              <a:defRPr sz="1400" b="0">
                <a:solidFill>
                  <a:srgbClr val="232934"/>
                </a:solidFill>
                <a:latin typeface="Consolas"/>
              </a:defRPr>
            </a:pPr>
            <a:r>
              <a:t>素材来源：当前仓库 `src/`、`pupper/`、`sim/`</a:t>
            </a:r>
          </a:p>
          <a:p>
            <a:pPr>
              <a:spcAft>
                <a:spcPts val="1000"/>
              </a:spcAft>
              <a:defRPr sz="1400" b="0">
                <a:solidFill>
                  <a:srgbClr val="232934"/>
                </a:solidFill>
                <a:latin typeface="Consolas"/>
              </a:defRPr>
            </a:pPr>
            <a:r>
              <a:t>讲法：架构图 -&gt; 源码 -&gt; 演示 -&gt; 作业</a:t>
            </a:r>
          </a:p>
          <a:p>
            <a:pPr>
              <a:spcAft>
                <a:spcPts val="1000"/>
              </a:spcAft>
              <a:defRPr sz="1400" b="0">
                <a:solidFill>
                  <a:srgbClr val="232934"/>
                </a:solidFill>
                <a:latin typeface="Consolas"/>
              </a:defRPr>
            </a:pPr>
            <a:r>
              <a:t>用途：正式课件结构稿，可继续美化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lecture05_hardware_sim2real · StanfordQuadruped B 站课程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本讲目标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65960"/>
            <a:ext cx="1024128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看懂实机运行链里哪些层和仿真不同。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理解 `JoystickInterface`、`HardwareInterface`、IMU 和部署脚本的角色。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总结从仿真迁移到实机时最容易踩的坑。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给出一个适合学生继续做下去的扩展路线。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lecture05_hardware_sim2real · 第 1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实机控制链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393192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934"/>
                </a:solidFill>
                <a:latin typeface="Consolas"/>
              </a:defRPr>
            </a:pPr>
            <a:r>
              <a:t>这条链和仿真版最大的区别，在于命令源、执行器和观测后端。</a:t>
            </a:r>
          </a:p>
          <a:p>
            <a:pPr>
              <a:spcAft>
                <a:spcPts val="1000"/>
              </a:spcAft>
              <a:defRPr sz="1700" b="0">
                <a:solidFill>
                  <a:srgbClr val="232934"/>
                </a:solidFill>
                <a:latin typeface="Consolas"/>
              </a:defRPr>
            </a:pPr>
            <a:r>
              <a:t>共享的仍然是 `Controller`、gait、stance、swing 和 IK。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1783080"/>
            <a:ext cx="649224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892808"/>
            <a:ext cx="6163056" cy="43251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>
                <a:solidFill>
                  <a:srgbClr val="232934"/>
                </a:solidFill>
                <a:latin typeface="Consolas"/>
              </a:defRPr>
            </a:pPr>
            <a:r>
              <a:t>PS4 手柄</a:t>
            </a:r>
            <a:br/>
            <a:r>
              <a:t>  -&gt; UDP</a:t>
            </a:r>
            <a:br/>
            <a:r>
              <a:t>  -&gt; JoystickInterface</a:t>
            </a:r>
            <a:br/>
            <a:r>
              <a:t>  -&gt; Command</a:t>
            </a:r>
            <a:br/>
            <a:r>
              <a:t>  -&gt; Controller</a:t>
            </a:r>
            <a:br/>
            <a:r>
              <a:t>  -&gt; joint angles</a:t>
            </a:r>
            <a:br/>
            <a:r>
              <a:t>  -&gt; HardwareInterface</a:t>
            </a:r>
            <a:br/>
            <a:r>
              <a:t>  -&gt; pigpio PWM</a:t>
            </a:r>
            <a:br/>
            <a:r>
              <a:t>  -&gt; servos</a:t>
            </a:r>
            <a:br/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lecture05_hardware_sim2real · 第 2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`JoystickInterface` 的价值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65960"/>
            <a:ext cx="1024128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负责把 UDP 手柄消息变成统一的 `Command`。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连续量包括 `horizontal_velocity / yaw_rate / pitch / height / roll`。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离散按钮采用边沿触发，不是按下即持续重复触发。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pitch 还会经过死区和一阶限速滤波，这就是命令整形。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lecture05_hardware_sim2real · 第 3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`HardwareInterface` 的价值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65960"/>
            <a:ext cx="1024128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连接本机 `pigpio` 守护进程。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维护 PWM 引脚、频率和输出范围。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把关节角转换成 PWM 脉宽和 duty cycle。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把数学模型里的角度真正送到实机舵机。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lecture05_hardware_sim2real · 第 4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为什么标定不能省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28800"/>
            <a:ext cx="507492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89320" y="1828800"/>
            <a:ext cx="544068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92A6"/>
                </a:solidFill>
                <a:latin typeface="Consolas"/>
              </a:defRPr>
            </a:pPr>
            <a:r>
              <a:t>需要标定的原因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95728"/>
            <a:ext cx="4480560" cy="3566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模型零位不等于机械零位。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不同腿和不同关节的方向不一致。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`servo_multipliers` 决定角度映射方向。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205740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92A6"/>
                </a:solidFill>
                <a:latin typeface="Consolas"/>
              </a:defRPr>
            </a:pPr>
            <a:r>
              <a:t>课程里该怎么讲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3056" y="2395728"/>
            <a:ext cx="4663440" cy="3566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没有标定，再好的 gait 也站不稳。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标定是 Sim2Real 里最现实的一关。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它体现了工程系统不是只有算法，还有装配与偏差。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lecture05_hardware_sim2real · 第 5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IMU 与轻量闭环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65960"/>
            <a:ext cx="1024128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IMU 在 `run_robot.py` 中是可选的，但非常重要。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它说明原始实机入口就预留了姿态反馈。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这不是完整状态估计器，但已经不是纯几何开环。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很适合作为从开环 gait 走向轻量闭环的过渡案例。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lecture05_hardware_sim2real · 第 6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从仿真到实机的迁移边界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402336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2934"/>
                </a:solidFill>
                <a:latin typeface="Consolas"/>
              </a:defRPr>
            </a:pPr>
            <a:r>
              <a:t>共享：`Controller`、gait、stance、swing、IK。</a:t>
            </a:r>
          </a:p>
          <a:p>
            <a:pPr>
              <a:spcAft>
                <a:spcPts val="1000"/>
              </a:spcAft>
              <a:defRPr sz="1800" b="0">
                <a:solidFill>
                  <a:srgbClr val="232934"/>
                </a:solidFill>
                <a:latin typeface="Consolas"/>
              </a:defRPr>
            </a:pPr>
            <a:r>
              <a:t>替换：命令源、执行器接口、观测接口。</a:t>
            </a:r>
          </a:p>
          <a:p>
            <a:pPr>
              <a:spcAft>
                <a:spcPts val="1000"/>
              </a:spcAft>
              <a:defRPr sz="1800" b="0">
                <a:solidFill>
                  <a:srgbClr val="232934"/>
                </a:solidFill>
                <a:latin typeface="Consolas"/>
              </a:defRPr>
            </a:pPr>
            <a:r>
              <a:t>这张图很适合用来收束整套系列课。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1783080"/>
            <a:ext cx="6492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im_to_real_mi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874520"/>
            <a:ext cx="6309360" cy="415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11496" y="6007608"/>
            <a:ext cx="623620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5E6879"/>
                </a:solidFill>
                <a:latin typeface="Consolas"/>
              </a:defRPr>
            </a:pPr>
            <a:r>
              <a:t>Sim2Real：共享控制核心，替换平台相关后端。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lecture05_hardware_sim2real · 第 7 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实机最容易踩的坑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65960"/>
            <a:ext cx="1024128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舵机中位和机械装配偏差。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仿真里的 `kp / kd` 不能直接等价搬到真实舵机。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地面摩擦、接触和机身重量分布都会改变。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手柄输入是异步网络消息，和本地任务源不同。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lecture05_hardware_sim2real · 第 8 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推荐的二次开发路线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28800"/>
            <a:ext cx="507492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89320" y="1828800"/>
            <a:ext cx="544068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92A6"/>
                </a:solidFill>
                <a:latin typeface="Consolas"/>
              </a:defRPr>
            </a:pPr>
            <a:r>
              <a:t>先做工程清理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95728"/>
            <a:ext cx="4480560" cy="3566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给 `run_robot.py` 增加 `__main__` 保护。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改进主循环定时方式。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统一日志与观测输出。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205740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92A6"/>
                </a:solidFill>
                <a:latin typeface="Consolas"/>
              </a:defRPr>
            </a:pPr>
            <a:r>
              <a:t>再做能力增强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3056" y="2395728"/>
            <a:ext cx="4663440" cy="3566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替换摆腿轨迹。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增加新步态表和姿态反馈。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继续走向阻抗、WBC、MPC 或学习方法。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lecture05_hardware_sim2real · 第 9 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整套课的最终目标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65960"/>
            <a:ext cx="1024128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不是背术语，而是讲清主链。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不是只会跑一个脚本，而是知道如何扩展。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不是停在仿真，而是知道如何走向实机。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这一讲结束后，观众应当能自己规划下一步项目路线。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lecture05_hardware_sim2real · 第 10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